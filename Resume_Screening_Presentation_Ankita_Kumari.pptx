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bb836d4-ab4b-fbe3-79e3-0be4978ff941}">
          <p14:sldIdLst>
            <p14:sldId id="256"/>
            <p14:sldId id="257"/>
            <p14:sldId id="258"/>
          </p14:sldIdLst>
        </p14:section>
        <p14:section name="Method" id="{70c6ebbd-5dce-cc11-044e-f3257e3491cc}">
          <p14:sldIdLst>
            <p14:sldId id="259"/>
            <p14:sldId id="260"/>
            <p14:sldId id="261"/>
          </p14:sldIdLst>
        </p14:section>
        <p14:section name="Results" id="{958b7b1a-2150-e768-11f3-42709fec8f96}">
          <p14:sldIdLst>
            <p14:sldId id="262"/>
          </p14:sldIdLst>
        </p14:section>
        <p14:section name="Demo" id="{d2a4d24a-4ef8-c3d9-5204-76e34a9d36a2}">
          <p14:sldIdLst>
            <p14:sldId id="263"/>
            <p14:sldId id="264"/>
          </p14:sldIdLst>
        </p14:section>
        <p14:section name="Wrap-up" id="{5d1a8c3a-63b3-65bd-ba37-511721476e36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F3A"/>
                </a:solidFill>
                <a:latin typeface="+mn-lt"/>
              </a:rPr>
              <a:t>Decision balance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Decision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808F"/>
              </a:solidFill>
              <a:effectLst/>
            </c:spPr>
          </c:dPt>
          <c:dPt>
            <c:idx val="1"/>
            <c:bubble3D val="0"/>
            <c:spPr>
              <a:solidFill>
                <a:srgbClr val="8A9BA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Select</c:v>
                </c:pt>
                <c:pt idx="1">
                  <c:v>Reject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4500</c:v>
                </c:pt>
                <c:pt idx="1">
                  <c:v>5500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C55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F3A"/>
                </a:solidFill>
                <a:latin typeface="+mn-lt"/>
              </a:rPr>
              <a:t>Test accuracy by model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480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Complement NB (text)</c:v>
                  </c:pt>
                  <c:pt idx="1">
                    <c:v>LogReg (text only)</c:v>
                  </c:pt>
                  <c:pt idx="2">
                    <c:v>Linear SVM (text + match)</c:v>
                  </c:pt>
                  <c:pt idx="3">
                    <c:v>LogReg (text + match)</c:v>
                  </c:pt>
                  <c:pt idx="4">
                    <c:v>Random Forest (match)</c:v>
                  </c:pt>
                  <c:pt idx="5">
                    <c:v>HistGB (match)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60.2</c:v>
                </c:pt>
                <c:pt idx="1">
                  <c:v>69</c:v>
                </c:pt>
                <c:pt idx="2">
                  <c:v>85.6</c:v>
                </c:pt>
                <c:pt idx="3">
                  <c:v>85.6</c:v>
                </c:pt>
                <c:pt idx="4">
                  <c:v>85.7</c:v>
                </c:pt>
                <c:pt idx="5">
                  <c:v>85.9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5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5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5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F3A"/>
                </a:solidFill>
                <a:latin typeface="+mn-lt"/>
              </a:rPr>
              <a:t>Match score (%) for the sample Data Scientist JD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score (%)</c:v>
                </c:pt>
              </c:strCache>
            </c:strRef>
          </c:tx>
          <c:spPr>
            <a:solidFill>
              <a:srgbClr val="1480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candidate_2</c:v>
                  </c:pt>
                  <c:pt idx="1">
                    <c:v>candidate_1</c:v>
                  </c:pt>
                  <c:pt idx="2">
                    <c:v>candidate_3</c:v>
                  </c:pt>
                  <c:pt idx="3">
                    <c:v>candidate_6</c:v>
                  </c:pt>
                  <c:pt idx="4">
                    <c:v>candidate_4</c:v>
                  </c:pt>
                  <c:pt idx="5">
                    <c:v>candidate_5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3.2</c:v>
                </c:pt>
                <c:pt idx="2">
                  <c:v>74.4</c:v>
                </c:pt>
                <c:pt idx="3">
                  <c:v>74.6</c:v>
                </c:pt>
                <c:pt idx="4">
                  <c:v>99.7</c:v>
                </c:pt>
                <c:pt idx="5">
                  <c:v>99.9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5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5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5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machine-learning tool that ranks resumes against a job description and explains each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Screening is slow, inconsistent and can be biased. The project automates the first pass and keeps a human in charge of the final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 left to right. Stress that anonymisation happens before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flow: UI, text extraction, anonymisation, feature engineering, model, ranking. Training happens offline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synthetic and generated with generate_dataset.py (seed 42). 45% select and 55% reject. Be upfront that real hiring data would be needed for production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alone is a weak signal because a resume only makes sense relative to a job description. The engineered match features carry most of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models using match features land around 86 percent; text-only models are far behind. We deploy Logistic Regression because it is simple, fast and explainable. Results are on synthetic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of the app (wireframe). Replace this with a live screenshot or run the live demo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demo: six sample resumes against a Data Scientist job description. The tool separates strong matches from weak ones and shows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lessons: watch for label leakage, engineer features that compare the resume to the JD, and protect personal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synthetic-data limitation. Future work focuses on real data, OCR, fairness checks and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 Repository link is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AI-Based Resume Screening and Candidate Shortlisting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926080"/>
            <a:ext cx="2560320" cy="256032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48640" y="14630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Resume Screening and Candidate Shortlisting System</a:t>
            </a:r>
            <a:endParaRPr lang="en-US" sz="3800" dirty="0"/>
          </a:p>
        </p:txBody>
      </p:sp>
      <p:sp>
        <p:nvSpPr>
          <p:cNvPr id="6" name="Presenter"/>
          <p:cNvSpPr txBox="1"/>
          <p:nvPr/>
        </p:nvSpPr>
        <p:spPr>
          <a:xfrm>
            <a:off x="548640" y="3474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Ankita Kumari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B.Tech CSE (Data Science), 3rd Year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ABES Engineering College (AKTU), Noida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manual screening fails</a:t>
            </a:r>
            <a:endParaRPr lang="en-US" sz="3400" dirty="0"/>
          </a:p>
        </p:txBody>
      </p:sp>
      <p:sp>
        <p:nvSpPr>
          <p:cNvPr id="3" name="ProblemCard1"/>
          <p:cNvSpPr/>
          <p:nvPr/>
        </p:nvSpPr>
        <p:spPr>
          <a:xfrm>
            <a:off x="45720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rgbClr val="1480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Slow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Hundreds of resumes arrive for one opening and each must be read by hand.</a:t>
            </a:r>
            <a:endParaRPr lang="en-US" sz="1400" dirty="0"/>
          </a:p>
        </p:txBody>
      </p:sp>
      <p:sp>
        <p:nvSpPr>
          <p:cNvPr id="8" name="ProblemCard2"/>
          <p:cNvSpPr/>
          <p:nvPr/>
        </p:nvSpPr>
        <p:spPr>
          <a:xfrm>
            <a:off x="338328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1645920"/>
            <a:ext cx="685800" cy="685800"/>
          </a:xfrm>
          <a:prstGeom prst="ellipse">
            <a:avLst/>
          </a:prstGeom>
          <a:solidFill>
            <a:srgbClr val="F2A3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8013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Inconsistent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Different reviewers apply different criteria to the same resume.</a:t>
            </a:r>
            <a:endParaRPr lang="en-US" sz="1400" dirty="0"/>
          </a:p>
        </p:txBody>
      </p:sp>
      <p:sp>
        <p:nvSpPr>
          <p:cNvPr id="13" name="ProblemCard3"/>
          <p:cNvSpPr/>
          <p:nvPr/>
        </p:nvSpPr>
        <p:spPr>
          <a:xfrm>
            <a:off x="630936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583680" y="1645920"/>
            <a:ext cx="685800" cy="685800"/>
          </a:xfrm>
          <a:prstGeom prst="ellipse">
            <a:avLst/>
          </a:prstGeom>
          <a:solidFill>
            <a:srgbClr val="D8553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8013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8368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Bias-prone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8368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Names and personal details can sway first impressions.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Goal: rank candidates automatically, fairly and with reasons a recruiter can check.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StepCard1"/>
          <p:cNvSpPr/>
          <p:nvPr/>
        </p:nvSpPr>
        <p:spPr>
          <a:xfrm>
            <a:off x="457200" y="137160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6733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Paste JD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65176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Recruiter enters the job description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56816" y="2468880"/>
            <a:ext cx="173736" cy="20116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StepCard2"/>
          <p:cNvSpPr/>
          <p:nvPr/>
        </p:nvSpPr>
        <p:spPr>
          <a:xfrm>
            <a:off x="2148840" y="137160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26060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6733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4028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Upload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258568" y="265176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Resumes as PDF, DOCX or TXT files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48456" y="2468880"/>
            <a:ext cx="173736" cy="20116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StepCard3"/>
          <p:cNvSpPr/>
          <p:nvPr/>
        </p:nvSpPr>
        <p:spPr>
          <a:xfrm>
            <a:off x="3840480" y="137160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67335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319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Anonymise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950208" y="265176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Name, email, phone and links removed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40096" y="2468880"/>
            <a:ext cx="173736" cy="20116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StepCard4"/>
          <p:cNvSpPr/>
          <p:nvPr/>
        </p:nvSpPr>
        <p:spPr>
          <a:xfrm>
            <a:off x="5532120" y="137160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59893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6733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2356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641848" y="265176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TF-IDF, skill match and experience into a model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031736" y="2468880"/>
            <a:ext cx="173736" cy="20116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7" name="StepCard5"/>
          <p:cNvSpPr/>
          <p:nvPr/>
        </p:nvSpPr>
        <p:spPr>
          <a:xfrm>
            <a:off x="7223760" y="137160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768096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167335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1520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Shortlist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7333488" y="265176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Ranked list with matched and missing skills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Decision support only: the recruiter makes the final hiring decision.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pic>
        <p:nvPicPr>
          <p:cNvPr id="3" name="Image 0" descr="System block diagram: Streamlit UI, text extraction, cleaning, feature engineering, logistic regression, ranking,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852160" cy="2855258"/>
          </a:xfrm>
          <a:prstGeom prst="rect">
            <a:avLst/>
          </a:prstGeom>
        </p:spPr>
      </p:pic>
      <p:sp>
        <p:nvSpPr>
          <p:cNvPr id="4" name="ArchCard1"/>
          <p:cNvSpPr/>
          <p:nvPr/>
        </p:nvSpPr>
        <p:spPr>
          <a:xfrm>
            <a:off x="6583680" y="137160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67512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Streamlit front end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page: inputs, results, CSV download</a:t>
            </a:r>
            <a:endParaRPr lang="en-US" sz="1400" dirty="0"/>
          </a:p>
        </p:txBody>
      </p:sp>
      <p:sp>
        <p:nvSpPr>
          <p:cNvPr id="6" name="ArchCard2"/>
          <p:cNvSpPr/>
          <p:nvPr/>
        </p:nvSpPr>
        <p:spPr>
          <a:xfrm>
            <a:off x="6583680" y="242316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7512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scikit-learn model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Pre-trained, loaded once per session</a:t>
            </a:r>
            <a:endParaRPr lang="en-US" sz="1400" dirty="0"/>
          </a:p>
        </p:txBody>
      </p:sp>
      <p:sp>
        <p:nvSpPr>
          <p:cNvPr id="8" name="ArchCard3"/>
          <p:cNvSpPr/>
          <p:nvPr/>
        </p:nvSpPr>
        <p:spPr>
          <a:xfrm>
            <a:off x="6583680" y="347472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75120" y="3520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database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Resumes stay in memory for the session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400" dirty="0"/>
          </a:p>
        </p:txBody>
      </p:sp>
      <p:sp>
        <p:nvSpPr>
          <p:cNvPr id="3" name="StatCard1"/>
          <p:cNvSpPr/>
          <p:nvPr/>
        </p:nvSpPr>
        <p:spPr>
          <a:xfrm>
            <a:off x="457200" y="1325880"/>
            <a:ext cx="40233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32588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resume and job-description pairs</a:t>
            </a:r>
            <a:endParaRPr lang="en-US" sz="1400" dirty="0"/>
          </a:p>
        </p:txBody>
      </p:sp>
      <p:sp>
        <p:nvSpPr>
          <p:cNvPr id="6" name="StatCard2"/>
          <p:cNvSpPr/>
          <p:nvPr/>
        </p:nvSpPr>
        <p:spPr>
          <a:xfrm>
            <a:off x="457200" y="2286000"/>
            <a:ext cx="40233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2860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job roles</a:t>
            </a:r>
            <a:endParaRPr lang="en-US" sz="1400" dirty="0"/>
          </a:p>
        </p:txBody>
      </p:sp>
      <p:sp>
        <p:nvSpPr>
          <p:cNvPr id="9" name="StatCard3"/>
          <p:cNvSpPr/>
          <p:nvPr/>
        </p:nvSpPr>
        <p:spPr>
          <a:xfrm>
            <a:off x="457200" y="3246120"/>
            <a:ext cx="40233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4612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unique job descriptions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754880" y="128016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Synthetic data from a seeded script; the label comes from a hidden weighted match score plus noise.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and model</a:t>
            </a:r>
            <a:endParaRPr lang="en-US" sz="3400" dirty="0"/>
          </a:p>
        </p:txBody>
      </p:sp>
      <p:sp>
        <p:nvSpPr>
          <p:cNvPr id="3" name="FeatureCard1"/>
          <p:cNvSpPr/>
          <p:nvPr/>
        </p:nvSpPr>
        <p:spPr>
          <a:xfrm>
            <a:off x="457200" y="1371600"/>
            <a:ext cx="22860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550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84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TF-IDF similarity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Cosine match of resume and JD text</a:t>
            </a:r>
            <a:endParaRPr lang="en-US" sz="1400" dirty="0"/>
          </a:p>
        </p:txBody>
      </p:sp>
      <p:sp>
        <p:nvSpPr>
          <p:cNvPr id="7" name="FeatureCard2"/>
          <p:cNvSpPr/>
          <p:nvPr/>
        </p:nvSpPr>
        <p:spPr>
          <a:xfrm>
            <a:off x="2926080" y="1371600"/>
            <a:ext cx="22860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310896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65506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108960" y="2084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Skill overlap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125 skills with synonym handling</a:t>
            </a:r>
            <a:endParaRPr lang="en-US" sz="1400" dirty="0"/>
          </a:p>
        </p:txBody>
      </p:sp>
      <p:sp>
        <p:nvSpPr>
          <p:cNvPr id="11" name="FeatureCard3"/>
          <p:cNvSpPr/>
          <p:nvPr/>
        </p:nvSpPr>
        <p:spPr>
          <a:xfrm>
            <a:off x="457200" y="2788920"/>
            <a:ext cx="22860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0723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0080" y="3502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Experience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Years found vs years required</a:t>
            </a:r>
            <a:endParaRPr lang="en-US" sz="1400" dirty="0"/>
          </a:p>
        </p:txBody>
      </p:sp>
      <p:sp>
        <p:nvSpPr>
          <p:cNvPr id="15" name="FeatureCard4"/>
          <p:cNvSpPr/>
          <p:nvPr/>
        </p:nvSpPr>
        <p:spPr>
          <a:xfrm>
            <a:off x="2926080" y="2788920"/>
            <a:ext cx="22860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310896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30723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108960" y="3502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Role match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Selected or auto-detected role</a:t>
            </a:r>
            <a:endParaRPr lang="en-US" sz="1400" dirty="0"/>
          </a:p>
        </p:txBody>
      </p:sp>
      <p:sp>
        <p:nvSpPr>
          <p:cNvPr id="19" name="ModelCard"/>
          <p:cNvSpPr/>
          <p:nvPr/>
        </p:nvSpPr>
        <p:spPr>
          <a:xfrm>
            <a:off x="5486400" y="1371600"/>
            <a:ext cx="3200400" cy="265176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7607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Model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76072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2560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Trained on TF-IDF text plus the match features. Output is a selection probability; 0.5 or higher means Recommend.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2,000 test resumes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51206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Card1"/>
          <p:cNvSpPr/>
          <p:nvPr/>
        </p:nvSpPr>
        <p:spPr>
          <a:xfrm>
            <a:off x="5852160" y="128016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89320" y="1280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85.6%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1280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accuracy (Logistic Regression)</a:t>
            </a:r>
            <a:endParaRPr lang="en-US" sz="1200" dirty="0"/>
          </a:p>
        </p:txBody>
      </p:sp>
      <p:sp>
        <p:nvSpPr>
          <p:cNvPr id="7" name="ResultCard2"/>
          <p:cNvSpPr/>
          <p:nvPr/>
        </p:nvSpPr>
        <p:spPr>
          <a:xfrm>
            <a:off x="5852160" y="233172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89320" y="23317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331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ROC-AUC</a:t>
            </a:r>
            <a:endParaRPr lang="en-US" sz="1200" dirty="0"/>
          </a:p>
        </p:txBody>
      </p:sp>
      <p:sp>
        <p:nvSpPr>
          <p:cNvPr id="10" name="ResultCard3"/>
          <p:cNvSpPr/>
          <p:nvPr/>
        </p:nvSpPr>
        <p:spPr>
          <a:xfrm>
            <a:off x="5852160" y="338328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89320" y="33832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Precision@10 per role, random is 0.45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Match features lift accuracy from 69% to 86%. Logistic Regression is deployed: near-best accuracy, fast and explainable.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app</a:t>
            </a:r>
            <a:endParaRPr lang="en-US" sz="3400" dirty="0"/>
          </a:p>
        </p:txBody>
      </p:sp>
      <p:pic>
        <p:nvPicPr>
          <p:cNvPr id="3" name="Image 0" descr="Wireframe of the Streamlit app inter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937760" cy="35605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1490472"/>
            <a:ext cx="265176" cy="2651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55080" y="1325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Paste the JD and upload PDF, DOCX or TXT resumes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669280" y="2468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2587752"/>
            <a:ext cx="265176" cy="2651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35508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Settings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Choose top-N (1 to 20) and an optional role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669280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3685032"/>
            <a:ext cx="265176" cy="26517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35508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Ranked table, explanations and CSV download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ranking 6 candidates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WhyCard1"/>
          <p:cNvSpPr/>
          <p:nvPr/>
        </p:nvSpPr>
        <p:spPr>
          <a:xfrm>
            <a:off x="5852160" y="128016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89320" y="1307592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 2 cover every skill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candidate_5 and candidate_4 match 100% of the skills found in the JD.</a:t>
            </a:r>
            <a:endParaRPr lang="en-US" sz="1400" dirty="0"/>
          </a:p>
        </p:txBody>
      </p:sp>
      <p:sp>
        <p:nvSpPr>
          <p:cNvPr id="6" name="WhyCard2"/>
          <p:cNvSpPr/>
          <p:nvPr/>
        </p:nvSpPr>
        <p:spPr>
          <a:xfrm>
            <a:off x="5852160" y="233172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89320" y="2359152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Gaps are visible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Matched and missing skills are listed for each candidate.</a:t>
            </a:r>
            <a:endParaRPr lang="en-US" sz="1400" dirty="0"/>
          </a:p>
        </p:txBody>
      </p:sp>
      <p:sp>
        <p:nvSpPr>
          <p:cNvPr id="8" name="WhyCard3"/>
          <p:cNvSpPr/>
          <p:nvPr/>
        </p:nvSpPr>
        <p:spPr>
          <a:xfrm>
            <a:off x="5852160" y="338328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89320" y="3410712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Clear shortlist rule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Shortlisted = in the top N and recommended.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fixes</a:t>
            </a:r>
            <a:endParaRPr lang="en-US" sz="3400" dirty="0"/>
          </a:p>
        </p:txBody>
      </p:sp>
      <p:sp>
        <p:nvSpPr>
          <p:cNvPr id="3" name="ChallengeCard1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D855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Label leakage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column stated the outcome and gave 100% accuracy.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Excluded it from training; kept for analysis only.</a:t>
            </a:r>
            <a:endParaRPr lang="en-US" sz="1200" dirty="0"/>
          </a:p>
        </p:txBody>
      </p:sp>
      <p:sp>
        <p:nvSpPr>
          <p:cNvPr id="8" name="ChallengeCard2"/>
          <p:cNvSpPr/>
          <p:nvPr/>
        </p:nvSpPr>
        <p:spPr>
          <a:xfrm>
            <a:off x="338328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1600200"/>
            <a:ext cx="594360" cy="594360"/>
          </a:xfrm>
          <a:prstGeom prst="ellipse">
            <a:avLst/>
          </a:prstGeom>
          <a:solidFill>
            <a:srgbClr val="F2A3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7373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Weak text-only model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TF-IDF alone reached only 69% accuracy.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Added match features: about 86%.</a:t>
            </a:r>
            <a:endParaRPr lang="en-US" sz="1200" dirty="0"/>
          </a:p>
        </p:txBody>
      </p:sp>
      <p:sp>
        <p:nvSpPr>
          <p:cNvPr id="13" name="ChallengeCard3"/>
          <p:cNvSpPr/>
          <p:nvPr/>
        </p:nvSpPr>
        <p:spPr>
          <a:xfrm>
            <a:off x="630936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583680" y="1600200"/>
            <a:ext cx="594360" cy="594360"/>
          </a:xfrm>
          <a:prstGeom prst="ellipse">
            <a:avLst/>
          </a:prstGeom>
          <a:solidFill>
            <a:srgbClr val="1480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373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836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Privacy and formats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58368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Resumes hold personal data in mixed formats.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Anonymise first; extract PDF, DOCX, TXT.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scope</a:t>
            </a:r>
            <a:endParaRPr lang="en-US" sz="3400" dirty="0"/>
          </a:p>
        </p:txBody>
      </p:sp>
      <p:sp>
        <p:nvSpPr>
          <p:cNvPr id="3" name="Col1"/>
          <p:cNvSpPr/>
          <p:nvPr/>
        </p:nvSpPr>
        <p:spPr>
          <a:xfrm>
            <a:off x="457200" y="137160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D855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28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Trained on synthetic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Text resumes only: no OCR for scans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Fixed skill vocabulary (125 skills)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English resumes only</a:t>
            </a:r>
            <a:endParaRPr lang="en-US" sz="1500" dirty="0"/>
          </a:p>
        </p:txBody>
      </p:sp>
      <p:sp>
        <p:nvSpPr>
          <p:cNvPr id="8" name="Col2"/>
          <p:cNvSpPr/>
          <p:nvPr/>
        </p:nvSpPr>
        <p:spPr>
          <a:xfrm>
            <a:off x="4663440" y="137160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937760" y="1600200"/>
            <a:ext cx="548640" cy="548640"/>
          </a:xfrm>
          <a:prstGeom prst="ellipse">
            <a:avLst/>
          </a:prstGeom>
          <a:solidFill>
            <a:srgbClr val="14808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7282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3774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Validate on real hiring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OCR for scanned resumes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Bias and fairness audits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ATS integration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54864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Faster, more consistent first-round screening, with a human making the final call.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Ankita Kumari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A33A"/>
                </a:solidFill>
              </a:rPr>
              <a:t>github.com/Ankitakumari13/AI-BASED-RESUME-SCREENING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umeScreen">
  <a:themeElements>
    <a:clrScheme name="ResumeScreen">
      <a:dk1>
        <a:srgbClr val="0E2F3A"/>
      </a:dk1>
      <a:lt1>
        <a:srgbClr val="FFFFFF"/>
      </a:lt1>
      <a:dk2>
        <a:srgbClr val="3C5560"/>
      </a:dk2>
      <a:lt2>
        <a:srgbClr val="EAF3F4"/>
      </a:lt2>
      <a:accent1>
        <a:srgbClr val="14808F"/>
      </a:accent1>
      <a:accent2>
        <a:srgbClr val="F2A33A"/>
      </a:accent2>
      <a:accent3>
        <a:srgbClr val="D8553F"/>
      </a:accent3>
      <a:accent4>
        <a:srgbClr val="5B8E7D"/>
      </a:accent4>
      <a:accent5>
        <a:srgbClr val="7A6FAE"/>
      </a:accent5>
      <a:accent6>
        <a:srgbClr val="8A9BA0"/>
      </a:accent6>
      <a:hlink>
        <a:srgbClr val="14808F"/>
      </a:hlink>
      <a:folHlink>
        <a:srgbClr val="7A6FAE"/>
      </a:folHlink>
    </a:clrScheme>
    <a:fontScheme name="ResumeSc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Resume Screening and Candidate Shortlisting System</dc:title>
  <dc:subject>PptxGenJS Presentation</dc:subject>
  <dc:creator>Ankita Kumari</dc:creator>
  <cp:lastModifiedBy>Ankita Kumari</cp:lastModifiedBy>
  <cp:revision>1</cp:revision>
  <dcterms:created xsi:type="dcterms:W3CDTF">2026-10-28T08:56:05Z</dcterms:created>
  <dcterms:modified xsi:type="dcterms:W3CDTF">2026-10-28T08:56:05Z</dcterms:modified>
</cp:coreProperties>
</file>